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40338" y="215184"/>
            <a:ext cx="6317615" cy="91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8759" y="2371919"/>
            <a:ext cx="8214359" cy="266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jpg"/><Relationship Id="rId4" Type="http://schemas.openxmlformats.org/officeDocument/2006/relationships/hyperlink" Target="https://www.unwto.org/" TargetMode="External"/><Relationship Id="rId5" Type="http://schemas.openxmlformats.org/officeDocument/2006/relationships/hyperlink" Target="https://docs.oracle.com/" TargetMode="External"/><Relationship Id="rId6" Type="http://schemas.openxmlformats.org/officeDocument/2006/relationships/hyperlink" Target="https://www.sqlite.org/docs.html" TargetMode="External"/><Relationship Id="rId7" Type="http://schemas.openxmlformats.org/officeDocument/2006/relationships/hyperlink" Target="https://docs.oracle.com/javase/tutorial/jdbc/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016" y="2745353"/>
            <a:ext cx="12091035" cy="1308735"/>
          </a:xfrm>
          <a:prstGeom prst="rect">
            <a:avLst/>
          </a:prstGeom>
        </p:spPr>
        <p:txBody>
          <a:bodyPr wrap="square" lIns="0" tIns="2476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0"/>
              </a:spcBef>
            </a:pPr>
            <a:r>
              <a:rPr dirty="0" sz="3400" b="1">
                <a:latin typeface="Times New Roman"/>
                <a:cs typeface="Times New Roman"/>
              </a:rPr>
              <a:t>Smart</a:t>
            </a:r>
            <a:r>
              <a:rPr dirty="0" sz="3400" spc="-105" b="1">
                <a:latin typeface="Times New Roman"/>
                <a:cs typeface="Times New Roman"/>
              </a:rPr>
              <a:t> </a:t>
            </a:r>
            <a:r>
              <a:rPr dirty="0" sz="3400" spc="-25" b="1">
                <a:latin typeface="Times New Roman"/>
                <a:cs typeface="Times New Roman"/>
              </a:rPr>
              <a:t>Tourism</a:t>
            </a:r>
            <a:r>
              <a:rPr dirty="0" sz="3400" spc="-35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Package</a:t>
            </a:r>
            <a:r>
              <a:rPr dirty="0" sz="3400" spc="-35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Recommendation</a:t>
            </a:r>
            <a:r>
              <a:rPr dirty="0" sz="3400" spc="-35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and</a:t>
            </a:r>
            <a:r>
              <a:rPr dirty="0" sz="3400" spc="-30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Booking</a:t>
            </a:r>
            <a:r>
              <a:rPr dirty="0" sz="3400" spc="-30" b="1">
                <a:latin typeface="Times New Roman"/>
                <a:cs typeface="Times New Roman"/>
              </a:rPr>
              <a:t> </a:t>
            </a:r>
            <a:r>
              <a:rPr dirty="0" sz="3400" spc="-10" b="1">
                <a:latin typeface="Times New Roman"/>
                <a:cs typeface="Times New Roman"/>
              </a:rPr>
              <a:t>Platform</a:t>
            </a:r>
            <a:endParaRPr sz="3400">
              <a:latin typeface="Times New Roman"/>
              <a:cs typeface="Times New Roman"/>
            </a:endParaRPr>
          </a:p>
          <a:p>
            <a:pPr algn="ctr" marR="12700">
              <a:lnSpc>
                <a:spcPct val="100000"/>
              </a:lnSpc>
              <a:spcBef>
                <a:spcPts val="1290"/>
              </a:spcBef>
            </a:pPr>
            <a:r>
              <a:rPr dirty="0" sz="2400" b="1">
                <a:latin typeface="Times New Roman"/>
                <a:cs typeface="Times New Roman"/>
              </a:rPr>
              <a:t>CSA0905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–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175" b="1">
                <a:latin typeface="Times New Roman"/>
                <a:cs typeface="Times New Roman"/>
              </a:rPr>
              <a:t>JAVA</a:t>
            </a:r>
            <a:r>
              <a:rPr dirty="0" sz="2400" spc="-1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PROGRAMMING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299" y="266906"/>
            <a:ext cx="9357393" cy="12177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0668" y="5088048"/>
            <a:ext cx="3436620" cy="81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050" marR="5080" indent="-514350">
              <a:lnSpc>
                <a:spcPct val="1441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UNDER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THE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SUPERVISION</a:t>
            </a:r>
            <a:r>
              <a:rPr dirty="0" sz="1800" spc="-25" b="1">
                <a:latin typeface="Times New Roman"/>
                <a:cs typeface="Times New Roman"/>
              </a:rPr>
              <a:t> OF: DR.SIVASANKAR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57475" y="4668692"/>
            <a:ext cx="2891790" cy="122999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400" spc="-10" b="1">
                <a:latin typeface="Times New Roman"/>
                <a:cs typeface="Times New Roman"/>
              </a:rPr>
              <a:t>PRESENTED </a:t>
            </a:r>
            <a:r>
              <a:rPr dirty="0" sz="1400" spc="-25" b="1">
                <a:latin typeface="Times New Roman"/>
                <a:cs typeface="Times New Roman"/>
              </a:rPr>
              <a:t>BY: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690"/>
              </a:spcBef>
            </a:pPr>
            <a:r>
              <a:rPr dirty="0" sz="1400" b="1">
                <a:latin typeface="Times New Roman"/>
                <a:cs typeface="Times New Roman"/>
              </a:rPr>
              <a:t>Saran.S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(192473003)</a:t>
            </a:r>
            <a:endParaRPr sz="140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690"/>
              </a:spcBef>
            </a:pPr>
            <a:r>
              <a:rPr dirty="0" sz="1400" b="1">
                <a:latin typeface="Times New Roman"/>
                <a:cs typeface="Times New Roman"/>
              </a:rPr>
              <a:t>R.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Kalyan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Kumar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Reddy(192472274)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400" b="1">
                <a:latin typeface="Times New Roman"/>
                <a:cs typeface="Times New Roman"/>
              </a:rPr>
              <a:t>B.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Karthik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Ratan(192372051)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94646" y="1714305"/>
            <a:ext cx="31788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CAPSTONE</a:t>
            </a:r>
            <a:r>
              <a:rPr dirty="0" sz="2400" spc="-125"/>
              <a:t> </a:t>
            </a:r>
            <a:r>
              <a:rPr dirty="0" sz="2400" spc="-10"/>
              <a:t>PROJECT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8029" rIns="0" bIns="0" rtlCol="0" vert="horz">
            <a:spAutoFit/>
          </a:bodyPr>
          <a:lstStyle/>
          <a:p>
            <a:pPr marL="57404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PROBLEM</a:t>
            </a:r>
            <a:r>
              <a:rPr dirty="0" sz="3200" spc="-135"/>
              <a:t> </a:t>
            </a:r>
            <a:r>
              <a:rPr dirty="0" sz="3200" spc="-10"/>
              <a:t>BACKGROUND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40" y="67144"/>
            <a:ext cx="1182726" cy="11583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182" y="79611"/>
            <a:ext cx="1283520" cy="12404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3048" y="1659562"/>
            <a:ext cx="10166985" cy="471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ts val="234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Current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Scenario:</a:t>
            </a:r>
            <a:endParaRPr sz="2000">
              <a:latin typeface="Times New Roman"/>
              <a:cs typeface="Times New Roman"/>
            </a:endParaRPr>
          </a:p>
          <a:p>
            <a:pPr marL="354965" marR="248920">
              <a:lnSpc>
                <a:spcPts val="23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Travelers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usually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tourism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websites,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agencies,</a:t>
            </a:r>
            <a:r>
              <a:rPr dirty="0" sz="2000" spc="-25">
                <a:latin typeface="Times New Roman"/>
                <a:cs typeface="Times New Roman"/>
              </a:rPr>
              <a:t> and </a:t>
            </a:r>
            <a:r>
              <a:rPr dirty="0" sz="2000">
                <a:latin typeface="Times New Roman"/>
                <a:cs typeface="Times New Roman"/>
              </a:rPr>
              <a:t>social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media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platforms.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time-</a:t>
            </a:r>
            <a:r>
              <a:rPr dirty="0" sz="2000">
                <a:latin typeface="Times New Roman"/>
                <a:cs typeface="Times New Roman"/>
              </a:rPr>
              <a:t>consuming,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personalization,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often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lacks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</a:t>
            </a:r>
            <a:r>
              <a:rPr dirty="0" sz="2000" spc="-10">
                <a:latin typeface="Times New Roman"/>
                <a:cs typeface="Times New Roman"/>
              </a:rPr>
              <a:t> availability,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pricing,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10">
                <a:latin typeface="Times New Roman"/>
                <a:cs typeface="Times New Roman"/>
              </a:rPr>
              <a:t> updates.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2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Need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Project:</a:t>
            </a:r>
            <a:endParaRPr sz="2000">
              <a:latin typeface="Times New Roman"/>
              <a:cs typeface="Times New Roman"/>
            </a:endParaRPr>
          </a:p>
          <a:p>
            <a:pPr marL="354965" marR="139700">
              <a:lnSpc>
                <a:spcPts val="2300"/>
              </a:lnSpc>
              <a:spcBef>
                <a:spcPts val="100"/>
              </a:spcBef>
            </a:pP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intelligent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tourism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on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preferences,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budget,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interests,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history.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should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 spc="-20">
                <a:latin typeface="Times New Roman"/>
                <a:cs typeface="Times New Roman"/>
              </a:rPr>
              <a:t>time </a:t>
            </a:r>
            <a:r>
              <a:rPr dirty="0" sz="2000">
                <a:latin typeface="Times New Roman"/>
                <a:cs typeface="Times New Roman"/>
              </a:rPr>
              <a:t>package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availability, </a:t>
            </a:r>
            <a:r>
              <a:rPr dirty="0" sz="2000">
                <a:latin typeface="Times New Roman"/>
                <a:cs typeface="Times New Roman"/>
              </a:rPr>
              <a:t>simplify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booking,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overall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planning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experience.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21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20" b="1">
                <a:latin typeface="Times New Roman"/>
                <a:cs typeface="Times New Roman"/>
              </a:rPr>
              <a:t>Target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Users:</a:t>
            </a:r>
            <a:endParaRPr sz="2000">
              <a:latin typeface="Times New Roman"/>
              <a:cs typeface="Times New Roman"/>
            </a:endParaRPr>
          </a:p>
          <a:p>
            <a:pPr marL="354965" marR="415290" indent="-342900">
              <a:lnSpc>
                <a:spcPts val="228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25" b="1">
                <a:latin typeface="Times New Roman"/>
                <a:cs typeface="Times New Roman"/>
              </a:rPr>
              <a:t>Travelers/Tourists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compare,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receive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recommendations,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book </a:t>
            </a:r>
            <a:r>
              <a:rPr dirty="0" sz="2000" spc="-10">
                <a:latin typeface="Times New Roman"/>
                <a:cs typeface="Times New Roman"/>
              </a:rPr>
              <a:t>trips.</a:t>
            </a:r>
            <a:endParaRPr sz="2000">
              <a:latin typeface="Times New Roman"/>
              <a:cs typeface="Times New Roman"/>
            </a:endParaRPr>
          </a:p>
          <a:p>
            <a:pPr marL="354965" marR="782955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35" b="1">
                <a:latin typeface="Times New Roman"/>
                <a:cs typeface="Times New Roman"/>
              </a:rPr>
              <a:t>Travel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Agencies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50" b="1">
                <a:latin typeface="Times New Roman"/>
                <a:cs typeface="Times New Roman"/>
              </a:rPr>
              <a:t> Tour </a:t>
            </a:r>
            <a:r>
              <a:rPr dirty="0" sz="2000" b="1">
                <a:latin typeface="Times New Roman"/>
                <a:cs typeface="Times New Roman"/>
              </a:rPr>
              <a:t>Operators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Publish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pricing,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 spc="-10">
                <a:latin typeface="Times New Roman"/>
                <a:cs typeface="Times New Roman"/>
              </a:rPr>
              <a:t>availability.</a:t>
            </a:r>
            <a:endParaRPr sz="2000">
              <a:latin typeface="Times New Roman"/>
              <a:cs typeface="Times New Roman"/>
            </a:endParaRPr>
          </a:p>
          <a:p>
            <a:pPr marL="354965" marR="39370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Hotels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Transportation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Providers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accommodation,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transport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services,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booking details.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265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Administrators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bookings,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payments,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operations.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1589" y="811879"/>
            <a:ext cx="46736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PROBLEM</a:t>
            </a:r>
            <a:r>
              <a:rPr dirty="0" sz="3200" spc="-135"/>
              <a:t> </a:t>
            </a:r>
            <a:r>
              <a:rPr dirty="0" sz="3200" spc="-45"/>
              <a:t>STATEMENT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200383" y="2611606"/>
            <a:ext cx="9775825" cy="266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ts val="235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000">
                <a:latin typeface="Times New Roman"/>
                <a:cs typeface="Times New Roman"/>
              </a:rPr>
              <a:t>Travelers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struggle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most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suitable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numerous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available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options.</a:t>
            </a:r>
            <a:endParaRPr sz="2000">
              <a:latin typeface="Times New Roman"/>
              <a:cs typeface="Times New Roman"/>
            </a:endParaRPr>
          </a:p>
          <a:p>
            <a:pPr marL="298450" marR="404495" indent="-285750">
              <a:lnSpc>
                <a:spcPts val="228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>
                <a:latin typeface="Times New Roman"/>
                <a:cs typeface="Times New Roman"/>
              </a:rPr>
              <a:t>Existing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booking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recommendations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user </a:t>
            </a:r>
            <a:r>
              <a:rPr dirty="0" sz="2000" spc="-10">
                <a:latin typeface="Times New Roman"/>
                <a:cs typeface="Times New Roman"/>
              </a:rPr>
              <a:t>preferences.</a:t>
            </a:r>
            <a:endParaRPr sz="2000">
              <a:latin typeface="Times New Roman"/>
              <a:cs typeface="Times New Roman"/>
            </a:endParaRPr>
          </a:p>
          <a:p>
            <a:pPr marL="298450" marR="891540" indent="-28575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>
                <a:latin typeface="Times New Roman"/>
                <a:cs typeface="Times New Roman"/>
              </a:rPr>
              <a:t>Comparing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destinations,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prices,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accommodations,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transportation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across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multiple </a:t>
            </a:r>
            <a:r>
              <a:rPr dirty="0" sz="2000">
                <a:latin typeface="Times New Roman"/>
                <a:cs typeface="Times New Roman"/>
              </a:rPr>
              <a:t>platforms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time-consuming.</a:t>
            </a:r>
            <a:endParaRPr sz="2000">
              <a:latin typeface="Times New Roman"/>
              <a:cs typeface="Times New Roman"/>
            </a:endParaRPr>
          </a:p>
          <a:p>
            <a:pPr marL="298450" marR="483870" indent="-28575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>
                <a:latin typeface="Times New Roman"/>
                <a:cs typeface="Times New Roman"/>
              </a:rPr>
              <a:t>Lack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availability,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pricing,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10">
                <a:latin typeface="Times New Roman"/>
                <a:cs typeface="Times New Roman"/>
              </a:rPr>
              <a:t> affects planning.</a:t>
            </a:r>
            <a:endParaRPr sz="2000">
              <a:latin typeface="Times New Roman"/>
              <a:cs typeface="Times New Roman"/>
            </a:endParaRPr>
          </a:p>
          <a:p>
            <a:pPr marL="298450" marR="730885" indent="-28575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spc="-20">
                <a:latin typeface="Times New Roman"/>
                <a:cs typeface="Times New Roman"/>
              </a:rPr>
              <a:t>A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centralized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recommendations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seamless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booking</a:t>
            </a:r>
            <a:r>
              <a:rPr dirty="0" sz="2000" spc="-10">
                <a:latin typeface="Times New Roman"/>
                <a:cs typeface="Times New Roman"/>
              </a:rPr>
              <a:t> services.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34" y="181997"/>
            <a:ext cx="1174548" cy="11617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9552" y="70674"/>
            <a:ext cx="1310656" cy="1266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40" y="67144"/>
            <a:ext cx="1182726" cy="1158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182" y="79611"/>
            <a:ext cx="1283520" cy="124048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08054" y="955221"/>
            <a:ext cx="23742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/>
              <a:t>OBJECTIVE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925" rIns="0" bIns="0" rtlCol="0" vert="horz">
            <a:spAutoFit/>
          </a:bodyPr>
          <a:lstStyle/>
          <a:p>
            <a:pPr marL="469900" marR="1419860" indent="-457200">
              <a:lnSpc>
                <a:spcPts val="2280"/>
              </a:lnSpc>
              <a:spcBef>
                <a:spcPts val="27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</a:t>
            </a:r>
            <a:r>
              <a:rPr dirty="0" spc="-20"/>
              <a:t> </a:t>
            </a:r>
            <a:r>
              <a:rPr dirty="0"/>
              <a:t>develop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</a:t>
            </a:r>
            <a:r>
              <a:rPr dirty="0"/>
              <a:t>platform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personalized</a:t>
            </a:r>
            <a:r>
              <a:rPr dirty="0" spc="-20"/>
              <a:t> </a:t>
            </a:r>
            <a:r>
              <a:rPr dirty="0"/>
              <a:t>tourism</a:t>
            </a:r>
            <a:r>
              <a:rPr dirty="0" spc="-20"/>
              <a:t> </a:t>
            </a:r>
            <a:r>
              <a:rPr dirty="0" spc="-10"/>
              <a:t>package </a:t>
            </a:r>
            <a:r>
              <a:rPr dirty="0"/>
              <a:t>recommendations</a:t>
            </a:r>
            <a:r>
              <a:rPr dirty="0" spc="-15"/>
              <a:t> </a:t>
            </a:r>
            <a:r>
              <a:rPr dirty="0"/>
              <a:t>based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user</a:t>
            </a:r>
            <a:r>
              <a:rPr dirty="0" spc="-15"/>
              <a:t> </a:t>
            </a:r>
            <a:r>
              <a:rPr dirty="0" spc="-10"/>
              <a:t>preferences.</a:t>
            </a:r>
          </a:p>
          <a:p>
            <a:pPr marL="469900" marR="234315" indent="-4572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</a:t>
            </a:r>
            <a:r>
              <a:rPr dirty="0" spc="-15"/>
              <a:t> </a:t>
            </a:r>
            <a:r>
              <a:rPr dirty="0"/>
              <a:t>simplify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travel</a:t>
            </a:r>
            <a:r>
              <a:rPr dirty="0" spc="-20"/>
              <a:t> </a:t>
            </a:r>
            <a:r>
              <a:rPr dirty="0"/>
              <a:t>planning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booking</a:t>
            </a:r>
            <a:r>
              <a:rPr dirty="0" spc="-15"/>
              <a:t> </a:t>
            </a:r>
            <a:r>
              <a:rPr dirty="0"/>
              <a:t>process</a:t>
            </a:r>
            <a:r>
              <a:rPr dirty="0" spc="-15"/>
              <a:t> </a:t>
            </a:r>
            <a:r>
              <a:rPr dirty="0"/>
              <a:t>through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centralized system.</a:t>
            </a:r>
          </a:p>
          <a:p>
            <a:pPr marL="469900" marR="5080" indent="-4572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</a:t>
            </a:r>
            <a:r>
              <a:rPr dirty="0" spc="-15"/>
              <a:t> </a:t>
            </a:r>
            <a:r>
              <a:rPr dirty="0"/>
              <a:t>provide</a:t>
            </a:r>
            <a:r>
              <a:rPr dirty="0" spc="-20"/>
              <a:t> </a:t>
            </a:r>
            <a:r>
              <a:rPr dirty="0" spc="-10"/>
              <a:t>real-</a:t>
            </a:r>
            <a:r>
              <a:rPr dirty="0"/>
              <a:t>time</a:t>
            </a:r>
            <a:r>
              <a:rPr dirty="0" spc="-20"/>
              <a:t> </a:t>
            </a: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package</a:t>
            </a:r>
            <a:r>
              <a:rPr dirty="0" spc="-20"/>
              <a:t> </a:t>
            </a:r>
            <a:r>
              <a:rPr dirty="0" spc="-10"/>
              <a:t>availability, </a:t>
            </a:r>
            <a:r>
              <a:rPr dirty="0"/>
              <a:t>pricing,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travel details.</a:t>
            </a:r>
          </a:p>
          <a:p>
            <a:pPr marL="469265" indent="-456565">
              <a:lnSpc>
                <a:spcPts val="2215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pc="-30"/>
              <a:t>To</a:t>
            </a:r>
            <a:r>
              <a:rPr dirty="0" spc="-25"/>
              <a:t> </a:t>
            </a:r>
            <a:r>
              <a:rPr dirty="0"/>
              <a:t>enable</a:t>
            </a:r>
            <a:r>
              <a:rPr dirty="0" spc="-30"/>
              <a:t> </a:t>
            </a:r>
            <a:r>
              <a:rPr dirty="0"/>
              <a:t>secure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efficient</a:t>
            </a:r>
            <a:r>
              <a:rPr dirty="0" spc="-30"/>
              <a:t> </a:t>
            </a:r>
            <a:r>
              <a:rPr dirty="0"/>
              <a:t>online</a:t>
            </a:r>
            <a:r>
              <a:rPr dirty="0" spc="-30"/>
              <a:t> </a:t>
            </a:r>
            <a:r>
              <a:rPr dirty="0"/>
              <a:t>booking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payment</a:t>
            </a:r>
            <a:r>
              <a:rPr dirty="0" spc="-30"/>
              <a:t> </a:t>
            </a:r>
            <a:r>
              <a:rPr dirty="0" spc="-10"/>
              <a:t>services.</a:t>
            </a:r>
          </a:p>
          <a:p>
            <a:pPr marL="469900" marR="275590" indent="-457200">
              <a:lnSpc>
                <a:spcPts val="2280"/>
              </a:lnSpc>
              <a:spcBef>
                <a:spcPts val="12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 </a:t>
            </a:r>
            <a:r>
              <a:rPr dirty="0"/>
              <a:t>improve</a:t>
            </a:r>
            <a:r>
              <a:rPr dirty="0" spc="-30"/>
              <a:t> </a:t>
            </a:r>
            <a:r>
              <a:rPr dirty="0"/>
              <a:t>user</a:t>
            </a:r>
            <a:r>
              <a:rPr dirty="0" spc="-25"/>
              <a:t> </a:t>
            </a:r>
            <a:r>
              <a:rPr dirty="0"/>
              <a:t>satisfaction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offering</a:t>
            </a:r>
            <a:r>
              <a:rPr dirty="0" spc="-30"/>
              <a:t> </a:t>
            </a:r>
            <a:r>
              <a:rPr dirty="0"/>
              <a:t>accurate</a:t>
            </a:r>
            <a:r>
              <a:rPr dirty="0" spc="-30"/>
              <a:t> </a:t>
            </a:r>
            <a:r>
              <a:rPr dirty="0"/>
              <a:t>recommendations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50"/>
              <a:t>a </a:t>
            </a:r>
            <a:r>
              <a:rPr dirty="0"/>
              <a:t>seamless</a:t>
            </a:r>
            <a:r>
              <a:rPr dirty="0" spc="-15"/>
              <a:t> </a:t>
            </a:r>
            <a:r>
              <a:rPr dirty="0"/>
              <a:t>travel</a:t>
            </a:r>
            <a:r>
              <a:rPr dirty="0" spc="-15"/>
              <a:t> </a:t>
            </a:r>
            <a:r>
              <a:rPr dirty="0" spc="-10"/>
              <a:t>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40" y="67144"/>
            <a:ext cx="1182726" cy="1158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182" y="79611"/>
            <a:ext cx="1283520" cy="124048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27435" y="1098860"/>
            <a:ext cx="6725920" cy="1013460"/>
          </a:xfrm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5"/>
              </a:spcBef>
              <a:tabLst>
                <a:tab pos="1953895" algn="l"/>
              </a:tabLst>
            </a:pPr>
            <a:r>
              <a:rPr dirty="0" sz="3200"/>
              <a:t>Module</a:t>
            </a:r>
            <a:r>
              <a:rPr dirty="0" sz="3200" spc="-65"/>
              <a:t> </a:t>
            </a:r>
            <a:r>
              <a:rPr dirty="0" sz="3200" spc="-50"/>
              <a:t>1</a:t>
            </a:r>
            <a:r>
              <a:rPr dirty="0" sz="3200"/>
              <a:t>	</a:t>
            </a:r>
            <a:r>
              <a:rPr dirty="0" sz="3200">
                <a:latin typeface="Arial"/>
                <a:cs typeface="Arial"/>
              </a:rPr>
              <a:t>User</a:t>
            </a:r>
            <a:r>
              <a:rPr dirty="0" sz="3200" spc="-7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&amp;</a:t>
            </a:r>
            <a:r>
              <a:rPr dirty="0" sz="3200" spc="-70">
                <a:latin typeface="Arial"/>
                <a:cs typeface="Arial"/>
              </a:rPr>
              <a:t> </a:t>
            </a:r>
            <a:r>
              <a:rPr dirty="0" sz="3200" spc="-20">
                <a:latin typeface="Arial"/>
                <a:cs typeface="Arial"/>
              </a:rPr>
              <a:t>Tourism</a:t>
            </a:r>
            <a:r>
              <a:rPr dirty="0" sz="3200" spc="-70">
                <a:latin typeface="Arial"/>
                <a:cs typeface="Arial"/>
              </a:rPr>
              <a:t> </a:t>
            </a:r>
            <a:r>
              <a:rPr dirty="0" sz="3200" spc="-10">
                <a:latin typeface="Arial"/>
                <a:cs typeface="Arial"/>
              </a:rPr>
              <a:t>Package Management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8759" y="2371919"/>
            <a:ext cx="8232775" cy="26670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55600" marR="663575" indent="-342900">
              <a:lnSpc>
                <a:spcPts val="2280"/>
              </a:lnSpc>
              <a:spcBef>
                <a:spcPts val="2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centralized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registration,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login,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profile management.</a:t>
            </a:r>
            <a:endParaRPr sz="2000">
              <a:latin typeface="Times New Roman"/>
              <a:cs typeface="Times New Roman"/>
            </a:endParaRPr>
          </a:p>
          <a:p>
            <a:pPr marL="355600" marR="176530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tourism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destinations, </a:t>
            </a:r>
            <a:r>
              <a:rPr dirty="0" sz="2000">
                <a:latin typeface="Times New Roman"/>
                <a:cs typeface="Times New Roman"/>
              </a:rPr>
              <a:t>pricing,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duration,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activities.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filtering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options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destination,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budget, </a:t>
            </a:r>
            <a:r>
              <a:rPr dirty="0" sz="2000">
                <a:latin typeface="Times New Roman"/>
                <a:cs typeface="Times New Roman"/>
              </a:rPr>
              <a:t>duration,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type.</a:t>
            </a:r>
            <a:endParaRPr sz="2000">
              <a:latin typeface="Times New Roman"/>
              <a:cs typeface="Times New Roman"/>
            </a:endParaRPr>
          </a:p>
          <a:p>
            <a:pPr marL="355600" marR="684530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enable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administrators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add,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tourism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packages efficiently.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265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tourism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40" y="67144"/>
            <a:ext cx="1182726" cy="1158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182" y="79611"/>
            <a:ext cx="1283520" cy="124048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25525" y="886396"/>
            <a:ext cx="6076950" cy="982980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340"/>
              </a:spcBef>
            </a:pPr>
            <a:r>
              <a:rPr dirty="0" sz="3200"/>
              <a:t>Module</a:t>
            </a:r>
            <a:r>
              <a:rPr dirty="0" sz="3200" spc="-75"/>
              <a:t> </a:t>
            </a:r>
            <a:r>
              <a:rPr dirty="0" sz="3200"/>
              <a:t>2:</a:t>
            </a:r>
            <a:r>
              <a:rPr dirty="0" sz="3200" spc="-70"/>
              <a:t> </a:t>
            </a:r>
            <a:r>
              <a:rPr dirty="0" sz="3200"/>
              <a:t>Smart</a:t>
            </a:r>
            <a:r>
              <a:rPr dirty="0" sz="3200" spc="-125"/>
              <a:t> </a:t>
            </a:r>
            <a:r>
              <a:rPr dirty="0" sz="3200" spc="-30"/>
              <a:t>Tourism</a:t>
            </a:r>
            <a:r>
              <a:rPr dirty="0" sz="3200" spc="-65"/>
              <a:t> </a:t>
            </a:r>
            <a:r>
              <a:rPr dirty="0" sz="3200" spc="-10"/>
              <a:t>Package Recommendation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1058759" y="2371919"/>
            <a:ext cx="8455025" cy="295719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55600" marR="505459" indent="-342900">
              <a:lnSpc>
                <a:spcPts val="2280"/>
              </a:lnSpc>
              <a:spcBef>
                <a:spcPts val="2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preferences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10">
                <a:latin typeface="Times New Roman"/>
                <a:cs typeface="Times New Roman"/>
              </a:rPr>
              <a:t> requirements.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analyze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preferences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budget,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destination,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duration,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preferred activities.</a:t>
            </a:r>
            <a:endParaRPr sz="2000">
              <a:latin typeface="Times New Roman"/>
              <a:cs typeface="Times New Roman"/>
            </a:endParaRPr>
          </a:p>
          <a:p>
            <a:pPr marL="355600" marR="970280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recommend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suitable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tourism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according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individual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user </a:t>
            </a:r>
            <a:r>
              <a:rPr dirty="0" sz="2000" spc="-10">
                <a:latin typeface="Times New Roman"/>
                <a:cs typeface="Times New Roman"/>
              </a:rPr>
              <a:t>requirements.</a:t>
            </a:r>
            <a:endParaRPr sz="2000">
              <a:latin typeface="Times New Roman"/>
              <a:cs typeface="Times New Roman"/>
            </a:endParaRPr>
          </a:p>
          <a:p>
            <a:pPr marL="355600" marR="977900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rank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display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tourism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relevance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user </a:t>
            </a:r>
            <a:r>
              <a:rPr dirty="0" sz="2000" spc="-10">
                <a:latin typeface="Times New Roman"/>
                <a:cs typeface="Times New Roman"/>
              </a:rPr>
              <a:t>preferences.</a:t>
            </a:r>
            <a:endParaRPr sz="2000">
              <a:latin typeface="Times New Roman"/>
              <a:cs typeface="Times New Roman"/>
            </a:endParaRPr>
          </a:p>
          <a:p>
            <a:pPr marL="355600" marR="371475" indent="-3429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3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planning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accurate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package recommendations.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40" y="67144"/>
            <a:ext cx="1182726" cy="11583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182" y="79611"/>
            <a:ext cx="1283520" cy="124048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15460" y="866731"/>
            <a:ext cx="5523230" cy="982980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340"/>
              </a:spcBef>
            </a:pPr>
            <a:r>
              <a:rPr dirty="0" sz="3200"/>
              <a:t>Module</a:t>
            </a:r>
            <a:r>
              <a:rPr dirty="0" sz="3200" spc="-50"/>
              <a:t> </a:t>
            </a:r>
            <a:r>
              <a:rPr dirty="0" sz="3200"/>
              <a:t>3:</a:t>
            </a:r>
            <a:r>
              <a:rPr dirty="0" sz="3200" spc="-40"/>
              <a:t> </a:t>
            </a:r>
            <a:r>
              <a:rPr dirty="0" sz="3200"/>
              <a:t>Booking,</a:t>
            </a:r>
            <a:r>
              <a:rPr dirty="0" sz="3200" spc="-40"/>
              <a:t> </a:t>
            </a:r>
            <a:r>
              <a:rPr dirty="0" sz="3200"/>
              <a:t>Payment</a:t>
            </a:r>
            <a:r>
              <a:rPr dirty="0" sz="3200" spc="-40"/>
              <a:t> </a:t>
            </a:r>
            <a:r>
              <a:rPr dirty="0" sz="3200" spc="-50"/>
              <a:t>&amp; </a:t>
            </a:r>
            <a:r>
              <a:rPr dirty="0" sz="3200"/>
              <a:t>Review</a:t>
            </a:r>
            <a:r>
              <a:rPr dirty="0" sz="3200" spc="-90"/>
              <a:t> </a:t>
            </a:r>
            <a:r>
              <a:rPr dirty="0" sz="3200" spc="-10"/>
              <a:t>Management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925" rIns="0" bIns="0" rtlCol="0" vert="horz">
            <a:spAutoFit/>
          </a:bodyPr>
          <a:lstStyle/>
          <a:p>
            <a:pPr marL="469900" marR="1419860" indent="-457200">
              <a:lnSpc>
                <a:spcPts val="2280"/>
              </a:lnSpc>
              <a:spcBef>
                <a:spcPts val="27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</a:t>
            </a:r>
            <a:r>
              <a:rPr dirty="0" spc="-20"/>
              <a:t> </a:t>
            </a:r>
            <a:r>
              <a:rPr dirty="0"/>
              <a:t>develop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20"/>
              <a:t> </a:t>
            </a:r>
            <a:r>
              <a:rPr dirty="0"/>
              <a:t>platform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personalized</a:t>
            </a:r>
            <a:r>
              <a:rPr dirty="0" spc="-20"/>
              <a:t> </a:t>
            </a:r>
            <a:r>
              <a:rPr dirty="0"/>
              <a:t>tourism</a:t>
            </a:r>
            <a:r>
              <a:rPr dirty="0" spc="-20"/>
              <a:t> </a:t>
            </a:r>
            <a:r>
              <a:rPr dirty="0" spc="-10"/>
              <a:t>package </a:t>
            </a:r>
            <a:r>
              <a:rPr dirty="0"/>
              <a:t>recommendations</a:t>
            </a:r>
            <a:r>
              <a:rPr dirty="0" spc="-15"/>
              <a:t> </a:t>
            </a:r>
            <a:r>
              <a:rPr dirty="0"/>
              <a:t>based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user</a:t>
            </a:r>
            <a:r>
              <a:rPr dirty="0" spc="-15"/>
              <a:t> </a:t>
            </a:r>
            <a:r>
              <a:rPr dirty="0" spc="-10"/>
              <a:t>preferences.</a:t>
            </a:r>
          </a:p>
          <a:p>
            <a:pPr marL="469900" marR="234315" indent="-4572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</a:t>
            </a:r>
            <a:r>
              <a:rPr dirty="0" spc="-15"/>
              <a:t> </a:t>
            </a:r>
            <a:r>
              <a:rPr dirty="0"/>
              <a:t>simplify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travel</a:t>
            </a:r>
            <a:r>
              <a:rPr dirty="0" spc="-20"/>
              <a:t> </a:t>
            </a:r>
            <a:r>
              <a:rPr dirty="0"/>
              <a:t>planning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booking</a:t>
            </a:r>
            <a:r>
              <a:rPr dirty="0" spc="-15"/>
              <a:t> </a:t>
            </a:r>
            <a:r>
              <a:rPr dirty="0"/>
              <a:t>process</a:t>
            </a:r>
            <a:r>
              <a:rPr dirty="0" spc="-15"/>
              <a:t> </a:t>
            </a:r>
            <a:r>
              <a:rPr dirty="0"/>
              <a:t>through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centralized system.</a:t>
            </a:r>
          </a:p>
          <a:p>
            <a:pPr marL="469900" marR="5080" indent="-457200">
              <a:lnSpc>
                <a:spcPts val="2280"/>
              </a:lnSpc>
              <a:spcBef>
                <a:spcPts val="4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</a:t>
            </a:r>
            <a:r>
              <a:rPr dirty="0" spc="-15"/>
              <a:t> </a:t>
            </a:r>
            <a:r>
              <a:rPr dirty="0"/>
              <a:t>provide</a:t>
            </a:r>
            <a:r>
              <a:rPr dirty="0" spc="-20"/>
              <a:t> </a:t>
            </a:r>
            <a:r>
              <a:rPr dirty="0" spc="-10"/>
              <a:t>real-</a:t>
            </a:r>
            <a:r>
              <a:rPr dirty="0"/>
              <a:t>time</a:t>
            </a:r>
            <a:r>
              <a:rPr dirty="0" spc="-20"/>
              <a:t> </a:t>
            </a: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package</a:t>
            </a:r>
            <a:r>
              <a:rPr dirty="0" spc="-20"/>
              <a:t> </a:t>
            </a:r>
            <a:r>
              <a:rPr dirty="0" spc="-10"/>
              <a:t>availability, </a:t>
            </a:r>
            <a:r>
              <a:rPr dirty="0"/>
              <a:t>pricing,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travel details.</a:t>
            </a:r>
          </a:p>
          <a:p>
            <a:pPr marL="469265" indent="-456565">
              <a:lnSpc>
                <a:spcPts val="2215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pc="-30"/>
              <a:t>To</a:t>
            </a:r>
            <a:r>
              <a:rPr dirty="0" spc="-25"/>
              <a:t> </a:t>
            </a:r>
            <a:r>
              <a:rPr dirty="0"/>
              <a:t>enable</a:t>
            </a:r>
            <a:r>
              <a:rPr dirty="0" spc="-30"/>
              <a:t> </a:t>
            </a:r>
            <a:r>
              <a:rPr dirty="0"/>
              <a:t>secure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efficient</a:t>
            </a:r>
            <a:r>
              <a:rPr dirty="0" spc="-30"/>
              <a:t> </a:t>
            </a:r>
            <a:r>
              <a:rPr dirty="0"/>
              <a:t>online</a:t>
            </a:r>
            <a:r>
              <a:rPr dirty="0" spc="-30"/>
              <a:t> </a:t>
            </a:r>
            <a:r>
              <a:rPr dirty="0"/>
              <a:t>booking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payment</a:t>
            </a:r>
            <a:r>
              <a:rPr dirty="0" spc="-30"/>
              <a:t> </a:t>
            </a:r>
            <a:r>
              <a:rPr dirty="0" spc="-10"/>
              <a:t>services.</a:t>
            </a:r>
          </a:p>
          <a:p>
            <a:pPr marL="469900" marR="275590" indent="-457200">
              <a:lnSpc>
                <a:spcPts val="2280"/>
              </a:lnSpc>
              <a:spcBef>
                <a:spcPts val="12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To </a:t>
            </a:r>
            <a:r>
              <a:rPr dirty="0"/>
              <a:t>improve</a:t>
            </a:r>
            <a:r>
              <a:rPr dirty="0" spc="-30"/>
              <a:t> </a:t>
            </a:r>
            <a:r>
              <a:rPr dirty="0"/>
              <a:t>user</a:t>
            </a:r>
            <a:r>
              <a:rPr dirty="0" spc="-25"/>
              <a:t> </a:t>
            </a:r>
            <a:r>
              <a:rPr dirty="0"/>
              <a:t>satisfaction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offering</a:t>
            </a:r>
            <a:r>
              <a:rPr dirty="0" spc="-30"/>
              <a:t> </a:t>
            </a:r>
            <a:r>
              <a:rPr dirty="0"/>
              <a:t>accurate</a:t>
            </a:r>
            <a:r>
              <a:rPr dirty="0" spc="-30"/>
              <a:t> </a:t>
            </a:r>
            <a:r>
              <a:rPr dirty="0"/>
              <a:t>recommendations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50"/>
              <a:t>a </a:t>
            </a:r>
            <a:r>
              <a:rPr dirty="0"/>
              <a:t>seamless</a:t>
            </a:r>
            <a:r>
              <a:rPr dirty="0" spc="-15"/>
              <a:t> </a:t>
            </a:r>
            <a:r>
              <a:rPr dirty="0"/>
              <a:t>travel</a:t>
            </a:r>
            <a:r>
              <a:rPr dirty="0" spc="-15"/>
              <a:t> </a:t>
            </a:r>
            <a:r>
              <a:rPr dirty="0" spc="-10"/>
              <a:t>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873" rIns="0" bIns="0" rtlCol="0" vert="horz">
            <a:spAutoFit/>
          </a:bodyPr>
          <a:lstStyle/>
          <a:p>
            <a:pPr marL="957580">
              <a:lnSpc>
                <a:spcPct val="100000"/>
              </a:lnSpc>
              <a:spcBef>
                <a:spcPts val="100"/>
              </a:spcBef>
            </a:pPr>
            <a:r>
              <a:rPr dirty="0" sz="3200" spc="-35"/>
              <a:t>LITERATURE</a:t>
            </a:r>
            <a:r>
              <a:rPr dirty="0" sz="3200" spc="-125"/>
              <a:t> </a:t>
            </a:r>
            <a:r>
              <a:rPr dirty="0" sz="3200" spc="-10"/>
              <a:t>SURVEY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0" y="12480"/>
            <a:ext cx="12192000" cy="6824345"/>
            <a:chOff x="0" y="12480"/>
            <a:chExt cx="12192000" cy="6824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034" y="98740"/>
              <a:ext cx="1174548" cy="11617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88288" y="12480"/>
              <a:ext cx="1311916" cy="12417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257299"/>
              <a:ext cx="12192000" cy="354965"/>
            </a:xfrm>
            <a:custGeom>
              <a:avLst/>
              <a:gdLst/>
              <a:ahLst/>
              <a:cxnLst/>
              <a:rect l="l" t="t" r="r" b="b"/>
              <a:pathLst>
                <a:path w="12192000" h="354965">
                  <a:moveTo>
                    <a:pt x="12192000" y="0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354787"/>
                  </a:lnTo>
                  <a:lnTo>
                    <a:pt x="12192000" y="35478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560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1650186"/>
              <a:ext cx="12192000" cy="1155065"/>
            </a:xfrm>
            <a:custGeom>
              <a:avLst/>
              <a:gdLst/>
              <a:ahLst/>
              <a:cxnLst/>
              <a:rect l="l" t="t" r="r" b="b"/>
              <a:pathLst>
                <a:path w="12192000" h="1155064">
                  <a:moveTo>
                    <a:pt x="12192000" y="0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154874"/>
                  </a:lnTo>
                  <a:lnTo>
                    <a:pt x="12192000" y="115487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AD1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2805061"/>
              <a:ext cx="12192000" cy="901700"/>
            </a:xfrm>
            <a:custGeom>
              <a:avLst/>
              <a:gdLst/>
              <a:ahLst/>
              <a:cxnLst/>
              <a:rect l="l" t="t" r="r" b="b"/>
              <a:pathLst>
                <a:path w="12192000" h="901700">
                  <a:moveTo>
                    <a:pt x="12192000" y="0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901446"/>
                  </a:lnTo>
                  <a:lnTo>
                    <a:pt x="12192000" y="90144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3706507"/>
              <a:ext cx="12192000" cy="1068070"/>
            </a:xfrm>
            <a:custGeom>
              <a:avLst/>
              <a:gdLst/>
              <a:ahLst/>
              <a:cxnLst/>
              <a:rect l="l" t="t" r="r" b="b"/>
              <a:pathLst>
                <a:path w="12192000" h="1068070">
                  <a:moveTo>
                    <a:pt x="12192000" y="0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067498"/>
                  </a:lnTo>
                  <a:lnTo>
                    <a:pt x="12192000" y="10674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AD1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0" y="4774006"/>
              <a:ext cx="12192000" cy="901700"/>
            </a:xfrm>
            <a:custGeom>
              <a:avLst/>
              <a:gdLst/>
              <a:ahLst/>
              <a:cxnLst/>
              <a:rect l="l" t="t" r="r" b="b"/>
              <a:pathLst>
                <a:path w="12192000" h="901700">
                  <a:moveTo>
                    <a:pt x="12192000" y="0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901433"/>
                  </a:lnTo>
                  <a:lnTo>
                    <a:pt x="12192000" y="90143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0" y="5675439"/>
              <a:ext cx="12192000" cy="1161415"/>
            </a:xfrm>
            <a:custGeom>
              <a:avLst/>
              <a:gdLst/>
              <a:ahLst/>
              <a:cxnLst/>
              <a:rect l="l" t="t" r="r" b="b"/>
              <a:pathLst>
                <a:path w="12192000" h="1161415">
                  <a:moveTo>
                    <a:pt x="12192000" y="0"/>
                  </a:moveTo>
                  <a:lnTo>
                    <a:pt x="12192000" y="0"/>
                  </a:lnTo>
                  <a:lnTo>
                    <a:pt x="0" y="0"/>
                  </a:lnTo>
                  <a:lnTo>
                    <a:pt x="0" y="1161237"/>
                  </a:lnTo>
                  <a:lnTo>
                    <a:pt x="12192000" y="1161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AD1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3970" y="1275610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 b="1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1867" y="1275610"/>
            <a:ext cx="478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0267" y="1275610"/>
            <a:ext cx="1308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Methodology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58667" y="1275610"/>
            <a:ext cx="876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Findings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97067" y="1275610"/>
            <a:ext cx="1399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dirty="0" sz="18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Times New Roman"/>
                <a:cs typeface="Times New Roman"/>
              </a:rPr>
              <a:t>Gap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70" y="2055839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1867" y="1928839"/>
            <a:ext cx="2304415" cy="5664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 i="1">
                <a:latin typeface="Times New Roman"/>
                <a:cs typeface="Times New Roman"/>
              </a:rPr>
              <a:t>Personalized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Tourism </a:t>
            </a:r>
            <a:r>
              <a:rPr dirty="0" sz="1800" i="1">
                <a:latin typeface="Times New Roman"/>
                <a:cs typeface="Times New Roman"/>
              </a:rPr>
              <a:t>Recommendation</a:t>
            </a:r>
            <a:r>
              <a:rPr dirty="0" sz="1800" spc="-10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0267" y="1662139"/>
            <a:ext cx="2304415" cy="10998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Machine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Learning-based </a:t>
            </a:r>
            <a:r>
              <a:rPr dirty="0" sz="1800">
                <a:latin typeface="Times New Roman"/>
                <a:cs typeface="Times New Roman"/>
              </a:rPr>
              <a:t>recommendation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using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preferences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ratings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58667" y="1662139"/>
            <a:ext cx="1663064" cy="10998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 spc="-10">
                <a:latin typeface="Times New Roman"/>
                <a:cs typeface="Times New Roman"/>
              </a:rPr>
              <a:t>Improved recommendation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user </a:t>
            </a:r>
            <a:r>
              <a:rPr dirty="0" sz="1800" spc="-10">
                <a:latin typeface="Times New Roman"/>
                <a:cs typeface="Times New Roman"/>
              </a:rPr>
              <a:t>satisfaction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97067" y="1789139"/>
            <a:ext cx="2342515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Limited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travel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dynamic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pricing support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70" y="309006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Times New Roman"/>
                <a:cs typeface="Times New Roman"/>
              </a:rPr>
              <a:t>2022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81867" y="2823368"/>
            <a:ext cx="221615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 spc="-10" i="1">
                <a:latin typeface="Times New Roman"/>
                <a:cs typeface="Times New Roman"/>
              </a:rPr>
              <a:t>AI-</a:t>
            </a:r>
            <a:r>
              <a:rPr dirty="0" sz="1800" i="1">
                <a:latin typeface="Times New Roman"/>
                <a:cs typeface="Times New Roman"/>
              </a:rPr>
              <a:t>Based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Travel </a:t>
            </a:r>
            <a:r>
              <a:rPr dirty="0" sz="1800" i="1">
                <a:latin typeface="Times New Roman"/>
                <a:cs typeface="Times New Roman"/>
              </a:rPr>
              <a:t>Recommendation</a:t>
            </a:r>
            <a:r>
              <a:rPr dirty="0" sz="1800" spc="-105" i="1">
                <a:latin typeface="Times New Roman"/>
                <a:cs typeface="Times New Roman"/>
              </a:rPr>
              <a:t> </a:t>
            </a:r>
            <a:r>
              <a:rPr dirty="0" sz="1800" spc="-20" i="1">
                <a:latin typeface="Times New Roman"/>
                <a:cs typeface="Times New Roman"/>
              </a:rPr>
              <a:t>Using </a:t>
            </a:r>
            <a:r>
              <a:rPr dirty="0" sz="1800" i="1">
                <a:latin typeface="Times New Roman"/>
                <a:cs typeface="Times New Roman"/>
              </a:rPr>
              <a:t>User</a:t>
            </a:r>
            <a:r>
              <a:rPr dirty="0" sz="1800" spc="-1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Behavior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20267" y="2823368"/>
            <a:ext cx="1999614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Artificial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Intelligence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collaborative </a:t>
            </a:r>
            <a:r>
              <a:rPr dirty="0" sz="1800">
                <a:latin typeface="Times New Roman"/>
                <a:cs typeface="Times New Roman"/>
              </a:rPr>
              <a:t>filtering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techniques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58667" y="2823368"/>
            <a:ext cx="224790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Generated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personalized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suggestions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based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10">
                <a:latin typeface="Times New Roman"/>
                <a:cs typeface="Times New Roman"/>
              </a:rPr>
              <a:t> interests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97067" y="2823368"/>
            <a:ext cx="229870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Did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integrate </a:t>
            </a:r>
            <a:r>
              <a:rPr dirty="0" sz="1800">
                <a:latin typeface="Times New Roman"/>
                <a:cs typeface="Times New Roman"/>
              </a:rPr>
              <a:t>complete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online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booking functionality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970" y="4080409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Times New Roman"/>
                <a:cs typeface="Times New Roman"/>
              </a:rPr>
              <a:t>2023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81867" y="3813709"/>
            <a:ext cx="224028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 i="1">
                <a:latin typeface="Times New Roman"/>
                <a:cs typeface="Times New Roman"/>
              </a:rPr>
              <a:t>Smart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spc="-20" i="1">
                <a:latin typeface="Times New Roman"/>
                <a:cs typeface="Times New Roman"/>
              </a:rPr>
              <a:t>Tourism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Platform </a:t>
            </a:r>
            <a:r>
              <a:rPr dirty="0" sz="1800" i="1">
                <a:latin typeface="Times New Roman"/>
                <a:cs typeface="Times New Roman"/>
              </a:rPr>
              <a:t>Using</a:t>
            </a:r>
            <a:r>
              <a:rPr dirty="0" sz="1800" spc="-2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Big</a:t>
            </a:r>
            <a:r>
              <a:rPr dirty="0" sz="1800" spc="-20" i="1">
                <a:latin typeface="Times New Roman"/>
                <a:cs typeface="Times New Roman"/>
              </a:rPr>
              <a:t> Data </a:t>
            </a:r>
            <a:r>
              <a:rPr dirty="0" sz="1800" spc="-10" i="1">
                <a:latin typeface="Times New Roman"/>
                <a:cs typeface="Times New Roman"/>
              </a:rPr>
              <a:t>Analytics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20267" y="3813709"/>
            <a:ext cx="210185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Big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analytics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cloud-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tourism services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58667" y="3813709"/>
            <a:ext cx="2037714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algn="just"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Enhanced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destination </a:t>
            </a:r>
            <a:r>
              <a:rPr dirty="0" sz="1800">
                <a:latin typeface="Times New Roman"/>
                <a:cs typeface="Times New Roman"/>
              </a:rPr>
              <a:t>recommendations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planning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97067" y="3813709"/>
            <a:ext cx="224790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Lack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 spc="-20">
                <a:latin typeface="Times New Roman"/>
                <a:cs typeface="Times New Roman"/>
              </a:rPr>
              <a:t>time </a:t>
            </a:r>
            <a:r>
              <a:rPr dirty="0" sz="1800">
                <a:latin typeface="Times New Roman"/>
                <a:cs typeface="Times New Roman"/>
              </a:rPr>
              <a:t>availability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booking management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70" y="5059005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Times New Roman"/>
                <a:cs typeface="Times New Roman"/>
              </a:rPr>
              <a:t>2024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81867" y="4932005"/>
            <a:ext cx="2290445" cy="5664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 i="1">
                <a:latin typeface="Times New Roman"/>
                <a:cs typeface="Times New Roman"/>
              </a:rPr>
              <a:t>Online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20" i="1">
                <a:latin typeface="Times New Roman"/>
                <a:cs typeface="Times New Roman"/>
              </a:rPr>
              <a:t>Tourism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Package </a:t>
            </a:r>
            <a:r>
              <a:rPr dirty="0" sz="1800" i="1">
                <a:latin typeface="Times New Roman"/>
                <a:cs typeface="Times New Roman"/>
              </a:rPr>
              <a:t>Booking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20267" y="4792305"/>
            <a:ext cx="2310765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 spc="-55">
                <a:latin typeface="Times New Roman"/>
                <a:cs typeface="Times New Roman"/>
              </a:rPr>
              <a:t>Web-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centralized </a:t>
            </a:r>
            <a:r>
              <a:rPr dirty="0" sz="1800">
                <a:latin typeface="Times New Roman"/>
                <a:cs typeface="Times New Roman"/>
              </a:rPr>
              <a:t>booking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20">
                <a:latin typeface="Times New Roman"/>
                <a:cs typeface="Times New Roman"/>
              </a:rPr>
              <a:t> with </a:t>
            </a:r>
            <a:r>
              <a:rPr dirty="0" sz="1800">
                <a:latin typeface="Times New Roman"/>
                <a:cs typeface="Times New Roman"/>
              </a:rPr>
              <a:t>integrated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services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58667" y="4792305"/>
            <a:ext cx="1797050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Simplified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package </a:t>
            </a:r>
            <a:r>
              <a:rPr dirty="0" sz="1800">
                <a:latin typeface="Times New Roman"/>
                <a:cs typeface="Times New Roman"/>
              </a:rPr>
              <a:t>search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online </a:t>
            </a:r>
            <a:r>
              <a:rPr dirty="0" sz="1800">
                <a:latin typeface="Times New Roman"/>
                <a:cs typeface="Times New Roman"/>
              </a:rPr>
              <a:t>booking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97067" y="4792305"/>
            <a:ext cx="2139315" cy="83311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No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intelligent </a:t>
            </a:r>
            <a:r>
              <a:rPr dirty="0" sz="1800">
                <a:latin typeface="Times New Roman"/>
                <a:cs typeface="Times New Roman"/>
              </a:rPr>
              <a:t>recommendation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based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preferences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970" y="6087446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Times New Roman"/>
                <a:cs typeface="Times New Roman"/>
              </a:rPr>
              <a:t>2025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81867" y="5693746"/>
            <a:ext cx="2012950" cy="1099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dirty="0" sz="1800" i="1">
                <a:latin typeface="Times New Roman"/>
                <a:cs typeface="Times New Roman"/>
              </a:rPr>
              <a:t>Intelligent</a:t>
            </a:r>
            <a:r>
              <a:rPr dirty="0" sz="1800" spc="-8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Tourism Package </a:t>
            </a:r>
            <a:r>
              <a:rPr dirty="0" sz="1800" i="1">
                <a:latin typeface="Times New Roman"/>
                <a:cs typeface="Times New Roman"/>
              </a:rPr>
              <a:t>Recommendation</a:t>
            </a:r>
            <a:r>
              <a:rPr dirty="0" sz="1800" spc="-105" i="1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and </a:t>
            </a:r>
            <a:r>
              <a:rPr dirty="0" sz="1800" i="1">
                <a:latin typeface="Times New Roman"/>
                <a:cs typeface="Times New Roman"/>
              </a:rPr>
              <a:t>Booking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Platform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20267" y="5693746"/>
            <a:ext cx="2120265" cy="1099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dirty="0" sz="1800">
                <a:latin typeface="Times New Roman"/>
                <a:cs typeface="Times New Roman"/>
              </a:rPr>
              <a:t>AI,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Machine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Learning,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analytics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personalized recommendations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58667" y="5693746"/>
            <a:ext cx="2075814" cy="1099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dirty="0" sz="1800">
                <a:latin typeface="Times New Roman"/>
                <a:cs typeface="Times New Roman"/>
              </a:rPr>
              <a:t>Improved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travel </a:t>
            </a:r>
            <a:r>
              <a:rPr dirty="0" sz="1800">
                <a:latin typeface="Times New Roman"/>
                <a:cs typeface="Times New Roman"/>
              </a:rPr>
              <a:t>experience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with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packages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seamless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booking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797067" y="5693746"/>
            <a:ext cx="2037714" cy="1099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dirty="0" sz="1800">
                <a:latin typeface="Times New Roman"/>
                <a:cs typeface="Times New Roman"/>
              </a:rPr>
              <a:t>Further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enhancement </a:t>
            </a:r>
            <a:r>
              <a:rPr dirty="0" sz="1800">
                <a:latin typeface="Times New Roman"/>
                <a:cs typeface="Times New Roman"/>
              </a:rPr>
              <a:t>needed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predictive </a:t>
            </a:r>
            <a:r>
              <a:rPr dirty="0" sz="1800">
                <a:latin typeface="Times New Roman"/>
                <a:cs typeface="Times New Roman"/>
              </a:rPr>
              <a:t>recommendations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multilingual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support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0" y="1250950"/>
            <a:ext cx="12192000" cy="5592445"/>
            <a:chOff x="0" y="1250950"/>
            <a:chExt cx="12192000" cy="5592445"/>
          </a:xfrm>
        </p:grpSpPr>
        <p:sp>
          <p:nvSpPr>
            <p:cNvPr id="43" name="object 43"/>
            <p:cNvSpPr/>
            <p:nvPr/>
          </p:nvSpPr>
          <p:spPr>
            <a:xfrm>
              <a:off x="2442497" y="1250950"/>
              <a:ext cx="7315200" cy="5592445"/>
            </a:xfrm>
            <a:custGeom>
              <a:avLst/>
              <a:gdLst/>
              <a:ahLst/>
              <a:cxnLst/>
              <a:rect l="l" t="t" r="r" b="b"/>
              <a:pathLst>
                <a:path w="7315200" h="5592445">
                  <a:moveTo>
                    <a:pt x="0" y="0"/>
                  </a:moveTo>
                  <a:lnTo>
                    <a:pt x="0" y="380178"/>
                  </a:lnTo>
                </a:path>
                <a:path w="7315200" h="5592445">
                  <a:moveTo>
                    <a:pt x="0" y="380178"/>
                  </a:moveTo>
                  <a:lnTo>
                    <a:pt x="0" y="5592065"/>
                  </a:lnTo>
                </a:path>
                <a:path w="7315200" h="5592445">
                  <a:moveTo>
                    <a:pt x="2438400" y="0"/>
                  </a:moveTo>
                  <a:lnTo>
                    <a:pt x="2438400" y="380178"/>
                  </a:lnTo>
                </a:path>
                <a:path w="7315200" h="5592445">
                  <a:moveTo>
                    <a:pt x="2438400" y="380178"/>
                  </a:moveTo>
                  <a:lnTo>
                    <a:pt x="2438400" y="5592065"/>
                  </a:lnTo>
                </a:path>
                <a:path w="7315200" h="5592445">
                  <a:moveTo>
                    <a:pt x="4876800" y="0"/>
                  </a:moveTo>
                  <a:lnTo>
                    <a:pt x="4876800" y="380178"/>
                  </a:lnTo>
                </a:path>
                <a:path w="7315200" h="5592445">
                  <a:moveTo>
                    <a:pt x="4876800" y="380178"/>
                  </a:moveTo>
                  <a:lnTo>
                    <a:pt x="4876800" y="5592065"/>
                  </a:lnTo>
                </a:path>
                <a:path w="7315200" h="5592445">
                  <a:moveTo>
                    <a:pt x="7315200" y="0"/>
                  </a:moveTo>
                  <a:lnTo>
                    <a:pt x="7315200" y="380178"/>
                  </a:lnTo>
                </a:path>
                <a:path w="7315200" h="5592445">
                  <a:moveTo>
                    <a:pt x="7315200" y="380178"/>
                  </a:moveTo>
                  <a:lnTo>
                    <a:pt x="7315200" y="559206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0" y="1250949"/>
              <a:ext cx="12192000" cy="5592445"/>
            </a:xfrm>
            <a:custGeom>
              <a:avLst/>
              <a:gdLst/>
              <a:ahLst/>
              <a:cxnLst/>
              <a:rect l="l" t="t" r="r" b="b"/>
              <a:pathLst>
                <a:path w="12192000" h="5592445">
                  <a:moveTo>
                    <a:pt x="12192000" y="5592076"/>
                  </a:moveTo>
                  <a:lnTo>
                    <a:pt x="12191987" y="5579376"/>
                  </a:lnTo>
                  <a:lnTo>
                    <a:pt x="0" y="5579376"/>
                  </a:lnTo>
                  <a:lnTo>
                    <a:pt x="0" y="5592076"/>
                  </a:lnTo>
                  <a:lnTo>
                    <a:pt x="12192000" y="5592076"/>
                  </a:lnTo>
                  <a:close/>
                </a:path>
                <a:path w="12192000" h="5592445">
                  <a:moveTo>
                    <a:pt x="12192000" y="4430839"/>
                  </a:moveTo>
                  <a:lnTo>
                    <a:pt x="12191987" y="4418139"/>
                  </a:lnTo>
                  <a:lnTo>
                    <a:pt x="0" y="4418139"/>
                  </a:lnTo>
                  <a:lnTo>
                    <a:pt x="0" y="4430839"/>
                  </a:lnTo>
                  <a:lnTo>
                    <a:pt x="12192000" y="4430839"/>
                  </a:lnTo>
                  <a:close/>
                </a:path>
                <a:path w="12192000" h="5592445">
                  <a:moveTo>
                    <a:pt x="12192000" y="3529406"/>
                  </a:moveTo>
                  <a:lnTo>
                    <a:pt x="12191987" y="3516706"/>
                  </a:lnTo>
                  <a:lnTo>
                    <a:pt x="0" y="3516706"/>
                  </a:lnTo>
                  <a:lnTo>
                    <a:pt x="0" y="3529406"/>
                  </a:lnTo>
                  <a:lnTo>
                    <a:pt x="12192000" y="3529406"/>
                  </a:lnTo>
                  <a:close/>
                </a:path>
                <a:path w="12192000" h="5592445">
                  <a:moveTo>
                    <a:pt x="12192000" y="2461907"/>
                  </a:moveTo>
                  <a:lnTo>
                    <a:pt x="12191987" y="2449207"/>
                  </a:lnTo>
                  <a:lnTo>
                    <a:pt x="0" y="2449207"/>
                  </a:lnTo>
                  <a:lnTo>
                    <a:pt x="0" y="2461907"/>
                  </a:lnTo>
                  <a:lnTo>
                    <a:pt x="12192000" y="2461907"/>
                  </a:lnTo>
                  <a:close/>
                </a:path>
                <a:path w="12192000" h="5592445">
                  <a:moveTo>
                    <a:pt x="12192000" y="1560461"/>
                  </a:moveTo>
                  <a:lnTo>
                    <a:pt x="12191987" y="1547761"/>
                  </a:lnTo>
                  <a:lnTo>
                    <a:pt x="0" y="1547761"/>
                  </a:lnTo>
                  <a:lnTo>
                    <a:pt x="0" y="1560461"/>
                  </a:lnTo>
                  <a:lnTo>
                    <a:pt x="12192000" y="1560461"/>
                  </a:lnTo>
                  <a:close/>
                </a:path>
                <a:path w="12192000" h="5592445">
                  <a:moveTo>
                    <a:pt x="12192000" y="399237"/>
                  </a:moveTo>
                  <a:lnTo>
                    <a:pt x="12191987" y="361137"/>
                  </a:lnTo>
                  <a:lnTo>
                    <a:pt x="0" y="361137"/>
                  </a:lnTo>
                  <a:lnTo>
                    <a:pt x="0" y="399237"/>
                  </a:lnTo>
                  <a:lnTo>
                    <a:pt x="12192000" y="399237"/>
                  </a:lnTo>
                  <a:close/>
                </a:path>
                <a:path w="12192000" h="5592445">
                  <a:moveTo>
                    <a:pt x="12192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192000" y="127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42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Existing</a:t>
            </a:r>
            <a:r>
              <a:rPr dirty="0" sz="3200" spc="-80"/>
              <a:t> </a:t>
            </a:r>
            <a:r>
              <a:rPr dirty="0" sz="3200"/>
              <a:t>System</a:t>
            </a:r>
            <a:r>
              <a:rPr dirty="0" sz="3200" spc="-75"/>
              <a:t> </a:t>
            </a:r>
            <a:r>
              <a:rPr dirty="0" sz="3200"/>
              <a:t>vs</a:t>
            </a:r>
            <a:r>
              <a:rPr dirty="0" sz="3200" spc="-75"/>
              <a:t> </a:t>
            </a:r>
            <a:r>
              <a:rPr dirty="0" sz="3200"/>
              <a:t>Proposed</a:t>
            </a:r>
            <a:r>
              <a:rPr dirty="0" sz="3200" spc="-75"/>
              <a:t> </a:t>
            </a:r>
            <a:r>
              <a:rPr dirty="0" sz="3200" spc="-10"/>
              <a:t>System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34" y="181997"/>
            <a:ext cx="1174548" cy="1161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8288" y="70688"/>
            <a:ext cx="1311916" cy="1267928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1950" y="1517650"/>
          <a:ext cx="11128375" cy="5015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0510"/>
                <a:gridCol w="2742565"/>
                <a:gridCol w="2742565"/>
                <a:gridCol w="2742565"/>
              </a:tblGrid>
              <a:tr h="41402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800" spc="-8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Package</a:t>
                      </a:r>
                      <a:r>
                        <a:rPr dirty="0" sz="18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Recommendation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981710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Generic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manual recommendations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194310">
                        <a:lnSpc>
                          <a:spcPts val="2100"/>
                        </a:lnSpc>
                        <a:spcBef>
                          <a:spcPts val="76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personalized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recommendations</a:t>
                      </a:r>
                      <a:r>
                        <a:rPr dirty="0" sz="18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preferences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258445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personalized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travel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suggestions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Package</a:t>
                      </a:r>
                      <a:r>
                        <a:rPr dirty="0" sz="18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Search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73660">
                        <a:lnSpc>
                          <a:spcPts val="2100"/>
                        </a:lnSpc>
                        <a:spcBef>
                          <a:spcPts val="5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multiple websites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321310">
                        <a:lnSpc>
                          <a:spcPts val="2100"/>
                        </a:lnSpc>
                        <a:spcBef>
                          <a:spcPts val="5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Centralized</a:t>
                      </a:r>
                      <a:r>
                        <a:rPr dirty="0" sz="18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18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filters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339725">
                        <a:lnSpc>
                          <a:spcPts val="2100"/>
                        </a:lnSpc>
                        <a:spcBef>
                          <a:spcPts val="5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Saves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simplifies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travel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planning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Booking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Process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105410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Separate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booking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hotels,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transport,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activities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339725">
                        <a:lnSpc>
                          <a:spcPts val="2100"/>
                        </a:lnSpc>
                        <a:spcBef>
                          <a:spcPts val="6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Integrated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booking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hotels,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transport,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tour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packages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371475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Convenient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seamless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booking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experience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8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Updates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187960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delayed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updates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availability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pricing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416559">
                        <a:lnSpc>
                          <a:spcPts val="2100"/>
                        </a:lnSpc>
                        <a:spcBef>
                          <a:spcPts val="6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Live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updates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package availability,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prices,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travel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information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880110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planning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informed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decisions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EC"/>
                    </a:solidFill>
                  </a:tcPr>
                </a:tc>
              </a:tr>
              <a:tr h="9791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8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Experience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118110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personalization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comparison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54610">
                        <a:lnSpc>
                          <a:spcPts val="2100"/>
                        </a:lnSpc>
                        <a:spcBef>
                          <a:spcPts val="6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Personalized</a:t>
                      </a:r>
                      <a:r>
                        <a:rPr dirty="0" sz="18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8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recommendations</a:t>
                      </a:r>
                      <a:r>
                        <a:rPr dirty="0" sz="1800" spc="-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booking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history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257810">
                        <a:lnSpc>
                          <a:spcPts val="2100"/>
                        </a:lnSpc>
                        <a:spcBef>
                          <a:spcPts val="176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satisfaction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travel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experience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41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1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1928" rIns="0" bIns="0" rtlCol="0" vert="horz">
            <a:spAutoFit/>
          </a:bodyPr>
          <a:lstStyle/>
          <a:p>
            <a:pPr marL="15182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REQUIREMENTS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40" y="67144"/>
            <a:ext cx="1182726" cy="11583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182" y="79611"/>
            <a:ext cx="1283520" cy="12404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0406" y="1477016"/>
            <a:ext cx="9834245" cy="456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Functional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Requirements: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ts val="2100"/>
              </a:lnSpc>
            </a:pPr>
            <a:r>
              <a:rPr dirty="0" sz="1800">
                <a:latin typeface="Times New Roman"/>
                <a:cs typeface="Times New Roman"/>
              </a:rPr>
              <a:t>Register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manage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details.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Search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view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tourism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packages.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ts val="2100"/>
              </a:lnSpc>
            </a:pPr>
            <a:r>
              <a:rPr dirty="0" sz="1800">
                <a:latin typeface="Times New Roman"/>
                <a:cs typeface="Times New Roman"/>
              </a:rPr>
              <a:t>Recommend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preferences.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manage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details.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00"/>
              </a:lnSpc>
            </a:pPr>
            <a:r>
              <a:rPr dirty="0" sz="1800" spc="-10" b="1">
                <a:latin typeface="Times New Roman"/>
                <a:cs typeface="Times New Roman"/>
              </a:rPr>
              <a:t>Non-</a:t>
            </a:r>
            <a:r>
              <a:rPr dirty="0" sz="1800" b="1">
                <a:latin typeface="Times New Roman"/>
                <a:cs typeface="Times New Roman"/>
              </a:rPr>
              <a:t>Functional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Requirements:</a:t>
            </a:r>
            <a:endParaRPr sz="1800">
              <a:latin typeface="Times New Roman"/>
              <a:cs typeface="Times New Roman"/>
            </a:endParaRPr>
          </a:p>
          <a:p>
            <a:pPr marL="469900" marR="5080">
              <a:lnSpc>
                <a:spcPts val="2100"/>
              </a:lnSpc>
              <a:spcBef>
                <a:spcPts val="90"/>
              </a:spcBef>
            </a:pPr>
            <a:r>
              <a:rPr dirty="0" sz="1800" spc="-25">
                <a:latin typeface="Times New Roman"/>
                <a:cs typeface="Times New Roman"/>
              </a:rPr>
              <a:t>User-</a:t>
            </a:r>
            <a:r>
              <a:rPr dirty="0" sz="1800">
                <a:latin typeface="Times New Roman"/>
                <a:cs typeface="Times New Roman"/>
              </a:rPr>
              <a:t>friendly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interface.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Fast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recommendations.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storage. </a:t>
            </a:r>
            <a:r>
              <a:rPr dirty="0" sz="1800">
                <a:latin typeface="Times New Roman"/>
                <a:cs typeface="Times New Roman"/>
              </a:rPr>
              <a:t>Easy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maintain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scalable.</a:t>
            </a:r>
            <a:endParaRPr sz="1800">
              <a:latin typeface="Times New Roman"/>
              <a:cs typeface="Times New Roman"/>
            </a:endParaRPr>
          </a:p>
          <a:p>
            <a:pPr marL="469900" marR="6340475" indent="-457200">
              <a:lnSpc>
                <a:spcPts val="2100"/>
              </a:lnSpc>
            </a:pPr>
            <a:r>
              <a:rPr dirty="0" sz="1800" b="1">
                <a:latin typeface="Times New Roman"/>
                <a:cs typeface="Times New Roman"/>
              </a:rPr>
              <a:t>Hardware</a:t>
            </a:r>
            <a:r>
              <a:rPr dirty="0" sz="1800" spc="-10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Requirements:</a:t>
            </a:r>
            <a:r>
              <a:rPr dirty="0" sz="1800" spc="50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Processor: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i3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above </a:t>
            </a:r>
            <a:r>
              <a:rPr dirty="0" sz="1800">
                <a:latin typeface="Times New Roman"/>
                <a:cs typeface="Times New Roman"/>
              </a:rPr>
              <a:t>RAM: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4 GB </a:t>
            </a:r>
            <a:r>
              <a:rPr dirty="0" sz="1800" spc="-10">
                <a:latin typeface="Times New Roman"/>
                <a:cs typeface="Times New Roman"/>
              </a:rPr>
              <a:t>(Minimum) </a:t>
            </a:r>
            <a:r>
              <a:rPr dirty="0" sz="1800">
                <a:latin typeface="Times New Roman"/>
                <a:cs typeface="Times New Roman"/>
              </a:rPr>
              <a:t>Storage: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250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MB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Free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Space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10"/>
              </a:lnSpc>
            </a:pPr>
            <a:r>
              <a:rPr dirty="0" sz="1800" spc="-10" b="1">
                <a:latin typeface="Times New Roman"/>
                <a:cs typeface="Times New Roman"/>
              </a:rPr>
              <a:t>Software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Requirements:</a:t>
            </a:r>
            <a:endParaRPr sz="1800">
              <a:latin typeface="Times New Roman"/>
              <a:cs typeface="Times New Roman"/>
            </a:endParaRPr>
          </a:p>
          <a:p>
            <a:pPr marL="469900" marR="7923530" indent="-4445">
              <a:lnSpc>
                <a:spcPts val="2100"/>
              </a:lnSpc>
              <a:spcBef>
                <a:spcPts val="90"/>
              </a:spcBef>
            </a:pPr>
            <a:r>
              <a:rPr dirty="0" sz="1800" spc="-10">
                <a:latin typeface="Times New Roman"/>
                <a:cs typeface="Times New Roman"/>
              </a:rPr>
              <a:t>Windows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10/11 </a:t>
            </a:r>
            <a:r>
              <a:rPr dirty="0" sz="1800">
                <a:latin typeface="Times New Roman"/>
                <a:cs typeface="Times New Roman"/>
              </a:rPr>
              <a:t>Java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(JDK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25)</a:t>
            </a:r>
            <a:endParaRPr sz="1800">
              <a:latin typeface="Times New Roman"/>
              <a:cs typeface="Times New Roman"/>
            </a:endParaRPr>
          </a:p>
          <a:p>
            <a:pPr marL="469900" marR="8117840">
              <a:lnSpc>
                <a:spcPts val="2100"/>
              </a:lnSpc>
            </a:pPr>
            <a:r>
              <a:rPr dirty="0" sz="1800">
                <a:latin typeface="Times New Roman"/>
                <a:cs typeface="Times New Roman"/>
              </a:rPr>
              <a:t>IntelliJ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IDEA </a:t>
            </a:r>
            <a:r>
              <a:rPr dirty="0" sz="1800" spc="-10">
                <a:latin typeface="Times New Roman"/>
                <a:cs typeface="Times New Roman"/>
              </a:rPr>
              <a:t>Maven SQLite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ts val="2039"/>
              </a:lnSpc>
            </a:pPr>
            <a:r>
              <a:rPr dirty="0" sz="1800">
                <a:latin typeface="Times New Roman"/>
                <a:cs typeface="Times New Roman"/>
              </a:rPr>
              <a:t>DB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Browser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SQLite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40" y="67144"/>
            <a:ext cx="1182726" cy="11583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63560" y="79611"/>
            <a:ext cx="10988675" cy="6705600"/>
            <a:chOff x="963560" y="79611"/>
            <a:chExt cx="10988675" cy="6705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182" y="79611"/>
              <a:ext cx="1283520" cy="12404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560" y="1326331"/>
              <a:ext cx="9930582" cy="545829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9580" rIns="0" bIns="0" rtlCol="0" vert="horz">
            <a:spAutoFit/>
          </a:bodyPr>
          <a:lstStyle/>
          <a:p>
            <a:pPr marL="11049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SYSTEM</a:t>
            </a:r>
            <a:r>
              <a:rPr dirty="0" spc="-150"/>
              <a:t> </a:t>
            </a:r>
            <a:r>
              <a:rPr dirty="0" spc="-10"/>
              <a:t>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513" rIns="0" bIns="0" rtlCol="0" vert="horz">
            <a:spAutoFit/>
          </a:bodyPr>
          <a:lstStyle/>
          <a:p>
            <a:pPr marL="129413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dirty="0" spc="-45"/>
              <a:t> </a:t>
            </a:r>
            <a:r>
              <a:rPr dirty="0" spc="-1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34" y="181997"/>
            <a:ext cx="1174548" cy="1161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8288" y="70688"/>
            <a:ext cx="1311916" cy="12679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8585" y="1372111"/>
            <a:ext cx="9030335" cy="5100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ts val="213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Expected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Output</a:t>
            </a:r>
            <a:endParaRPr sz="1800">
              <a:latin typeface="Times New Roman"/>
              <a:cs typeface="Times New Roman"/>
            </a:endParaRPr>
          </a:p>
          <a:p>
            <a:pPr algn="just" marL="12700" marR="4540250">
              <a:lnSpc>
                <a:spcPts val="2100"/>
              </a:lnSpc>
              <a:spcBef>
                <a:spcPts val="90"/>
              </a:spcBef>
            </a:pP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tourism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recommendations. </a:t>
            </a:r>
            <a:r>
              <a:rPr dirty="0" sz="1800">
                <a:latin typeface="Times New Roman"/>
                <a:cs typeface="Times New Roman"/>
              </a:rPr>
              <a:t>Secure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online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payment.</a:t>
            </a:r>
            <a:endParaRPr sz="1800">
              <a:latin typeface="Times New Roman"/>
              <a:cs typeface="Times New Roman"/>
            </a:endParaRPr>
          </a:p>
          <a:p>
            <a:pPr algn="just" marL="12700" marR="4418965">
              <a:lnSpc>
                <a:spcPts val="2100"/>
              </a:lnSpc>
            </a:pP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confirmation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notifications. </a:t>
            </a:r>
            <a:r>
              <a:rPr dirty="0" sz="1800">
                <a:latin typeface="Times New Roman"/>
                <a:cs typeface="Times New Roman"/>
              </a:rPr>
              <a:t>Efficient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management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packages. </a:t>
            </a:r>
            <a:r>
              <a:rPr dirty="0" sz="1800" b="1">
                <a:latin typeface="Times New Roman"/>
                <a:cs typeface="Times New Roman"/>
              </a:rPr>
              <a:t>Project</a:t>
            </a:r>
            <a:r>
              <a:rPr dirty="0" sz="1800" spc="-11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Deliverables</a:t>
            </a:r>
            <a:endParaRPr sz="1800">
              <a:latin typeface="Times New Roman"/>
              <a:cs typeface="Times New Roman"/>
            </a:endParaRPr>
          </a:p>
          <a:p>
            <a:pPr marL="12700" marR="2800985">
              <a:lnSpc>
                <a:spcPts val="2100"/>
              </a:lnSpc>
            </a:pP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Tourism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Recommendation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application. </a:t>
            </a:r>
            <a:r>
              <a:rPr dirty="0" sz="1800">
                <a:latin typeface="Times New Roman"/>
                <a:cs typeface="Times New Roman"/>
              </a:rPr>
              <a:t>Database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bookings,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payments.</a:t>
            </a:r>
            <a:endParaRPr sz="1800">
              <a:latin typeface="Times New Roman"/>
              <a:cs typeface="Times New Roman"/>
            </a:endParaRPr>
          </a:p>
          <a:p>
            <a:pPr marL="12700" marR="5333365">
              <a:lnSpc>
                <a:spcPts val="2100"/>
              </a:lnSpc>
            </a:pPr>
            <a:r>
              <a:rPr dirty="0" sz="1800">
                <a:latin typeface="Times New Roman"/>
                <a:cs typeface="Times New Roman"/>
              </a:rPr>
              <a:t>Source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code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documentation.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report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PPT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presentation.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10"/>
              </a:lnSpc>
            </a:pPr>
            <a:r>
              <a:rPr dirty="0" sz="1800" spc="-10" b="1">
                <a:latin typeface="Times New Roman"/>
                <a:cs typeface="Times New Roman"/>
              </a:rPr>
              <a:t>Benefits</a:t>
            </a:r>
            <a:endParaRPr sz="1800">
              <a:latin typeface="Times New Roman"/>
              <a:cs typeface="Times New Roman"/>
            </a:endParaRPr>
          </a:p>
          <a:p>
            <a:pPr marL="12700" marR="4235450">
              <a:lnSpc>
                <a:spcPts val="2100"/>
              </a:lnSpc>
              <a:spcBef>
                <a:spcPts val="90"/>
              </a:spcBef>
            </a:pPr>
            <a:r>
              <a:rPr dirty="0" sz="1800">
                <a:latin typeface="Times New Roman"/>
                <a:cs typeface="Times New Roman"/>
              </a:rPr>
              <a:t>Saves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finding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suitable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packages.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recommendations. </a:t>
            </a:r>
            <a:r>
              <a:rPr dirty="0" sz="1800">
                <a:latin typeface="Times New Roman"/>
                <a:cs typeface="Times New Roman"/>
              </a:rPr>
              <a:t>Improves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experience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tourism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management. </a:t>
            </a:r>
            <a:r>
              <a:rPr dirty="0" sz="1800" spc="-10" b="1">
                <a:latin typeface="Times New Roman"/>
                <a:cs typeface="Times New Roman"/>
              </a:rPr>
              <a:t>References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10"/>
              </a:lnSpc>
            </a:pP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Tourism,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0" i="1">
                <a:latin typeface="Times New Roman"/>
                <a:cs typeface="Times New Roman"/>
              </a:rPr>
              <a:t>Tourism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Statistics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2024.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u="sng" sz="1800" spc="-1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Times New Roman"/>
                <a:cs typeface="Times New Roman"/>
                <a:hlinkClick r:id="rId4"/>
              </a:rPr>
              <a:t>https://www.unwto.org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00"/>
              </a:lnSpc>
            </a:pPr>
            <a:r>
              <a:rPr dirty="0" sz="1800">
                <a:latin typeface="Times New Roman"/>
                <a:cs typeface="Times New Roman"/>
              </a:rPr>
              <a:t>Oracle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Corporation,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Java</a:t>
            </a:r>
            <a:r>
              <a:rPr dirty="0" sz="1800" spc="-4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SE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Documentation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2024.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u="sng" sz="1800" spc="-1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Times New Roman"/>
                <a:cs typeface="Times New Roman"/>
                <a:hlinkClick r:id="rId5"/>
              </a:rPr>
              <a:t>https://docs.oracle.com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ts val="2100"/>
              </a:lnSpc>
              <a:spcBef>
                <a:spcPts val="90"/>
              </a:spcBef>
            </a:pPr>
            <a:r>
              <a:rPr dirty="0" sz="1800">
                <a:latin typeface="Times New Roman"/>
                <a:cs typeface="Times New Roman"/>
              </a:rPr>
              <a:t>SQLite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Development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Team,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SQLite</a:t>
            </a:r>
            <a:r>
              <a:rPr dirty="0" sz="1800" spc="-5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Documentation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2024.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u="sng" sz="1800" spc="-1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Times New Roman"/>
                <a:cs typeface="Times New Roman"/>
                <a:hlinkClick r:id="rId6"/>
              </a:rPr>
              <a:t>https://www.sqlite.org/docs.html</a:t>
            </a:r>
            <a:r>
              <a:rPr dirty="0" sz="1800" spc="500">
                <a:solidFill>
                  <a:srgbClr val="467886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Oracle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Corporation,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JDBC</a:t>
            </a:r>
            <a:r>
              <a:rPr dirty="0" sz="1800" spc="-8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API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Documentation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2024.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u="sng" sz="1800" spc="-1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Times New Roman"/>
                <a:cs typeface="Times New Roman"/>
                <a:hlinkClick r:id="rId7"/>
              </a:rPr>
              <a:t>https://docs.oracle.com/javase/tutorial/jdbc/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034" y="57945"/>
            <a:ext cx="11822430" cy="6511290"/>
            <a:chOff x="185034" y="57945"/>
            <a:chExt cx="11822430" cy="65112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1037" y="878430"/>
              <a:ext cx="10029924" cy="56904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034" y="181997"/>
              <a:ext cx="1208106" cy="11617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001" y="57945"/>
              <a:ext cx="1338966" cy="1287043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65020">
              <a:lnSpc>
                <a:spcPct val="100000"/>
              </a:lnSpc>
              <a:spcBef>
                <a:spcPts val="100"/>
              </a:spcBef>
            </a:pPr>
            <a:r>
              <a:rPr dirty="0" sz="3200" spc="-10" b="0">
                <a:latin typeface="Arial Black"/>
                <a:cs typeface="Arial Black"/>
              </a:rPr>
              <a:t>Dashboard</a:t>
            </a:r>
            <a:endParaRPr sz="3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513" rIns="0" bIns="0" rtlCol="0" vert="horz">
            <a:spAutoFit/>
          </a:bodyPr>
          <a:lstStyle/>
          <a:p>
            <a:pPr marL="12941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34" y="181997"/>
            <a:ext cx="1174548" cy="1161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8288" y="70688"/>
            <a:ext cx="1311916" cy="12679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8587" y="4535788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8587" y="1255479"/>
            <a:ext cx="8230234" cy="397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150495" indent="-285750">
              <a:lnSpc>
                <a:spcPct val="1433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centralized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platform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tourism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recommendation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online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booking.</a:t>
            </a:r>
            <a:endParaRPr sz="1800">
              <a:latin typeface="Times New Roman"/>
              <a:cs typeface="Times New Roman"/>
            </a:endParaRPr>
          </a:p>
          <a:p>
            <a:pPr marL="298450" marR="124460" indent="-285750">
              <a:lnSpc>
                <a:spcPct val="143300"/>
              </a:lnSpc>
              <a:spcBef>
                <a:spcPts val="3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simplify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planning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suitable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preferences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requirements.</a:t>
            </a:r>
            <a:endParaRPr sz="1800">
              <a:latin typeface="Times New Roman"/>
              <a:cs typeface="Times New Roman"/>
            </a:endParaRPr>
          </a:p>
          <a:p>
            <a:pPr marL="298450" marR="50165" indent="-285750">
              <a:lnSpc>
                <a:spcPct val="143300"/>
              </a:lnSpc>
              <a:spcBef>
                <a:spcPts val="3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information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about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destinations,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pricing,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availability,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duration,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activities.</a:t>
            </a:r>
            <a:endParaRPr sz="1800">
              <a:latin typeface="Times New Roman"/>
              <a:cs typeface="Times New Roman"/>
            </a:endParaRPr>
          </a:p>
          <a:p>
            <a:pPr marL="298450" marR="487045" indent="-285750">
              <a:lnSpc>
                <a:spcPct val="143300"/>
              </a:lnSpc>
              <a:spcBef>
                <a:spcPts val="3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online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booking,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payment,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cancellation,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review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management services.</a:t>
            </a:r>
            <a:endParaRPr sz="1800">
              <a:latin typeface="Times New Roman"/>
              <a:cs typeface="Times New Roman"/>
            </a:endParaRPr>
          </a:p>
          <a:p>
            <a:pPr marL="298450" marR="5080">
              <a:lnSpc>
                <a:spcPct val="144100"/>
              </a:lnSpc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overall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experience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recommendations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 </a:t>
            </a:r>
            <a:r>
              <a:rPr dirty="0" sz="1800">
                <a:latin typeface="Times New Roman"/>
                <a:cs typeface="Times New Roman"/>
              </a:rPr>
              <a:t>seamless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booking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513" rIns="0" bIns="0" rtlCol="0" vert="horz">
            <a:spAutoFit/>
          </a:bodyPr>
          <a:lstStyle/>
          <a:p>
            <a:pPr marL="129413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130"/>
              <a:t> </a:t>
            </a:r>
            <a:r>
              <a:rPr dirty="0" spc="-1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34" y="181997"/>
            <a:ext cx="1174548" cy="1161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8288" y="70688"/>
            <a:ext cx="1311916" cy="12679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7826" y="1579943"/>
            <a:ext cx="8287384" cy="35801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195580" indent="-285750">
              <a:lnSpc>
                <a:spcPct val="1433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advanced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machine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techniques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tourism </a:t>
            </a:r>
            <a:r>
              <a:rPr dirty="0" sz="1800">
                <a:latin typeface="Times New Roman"/>
                <a:cs typeface="Times New Roman"/>
              </a:rPr>
              <a:t>package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recommendations.</a:t>
            </a:r>
            <a:endParaRPr sz="1800">
              <a:latin typeface="Times New Roman"/>
              <a:cs typeface="Times New Roman"/>
            </a:endParaRPr>
          </a:p>
          <a:p>
            <a:pPr marL="298450" marR="444500" indent="-285750">
              <a:lnSpc>
                <a:spcPct val="143300"/>
              </a:lnSpc>
              <a:spcBef>
                <a:spcPts val="3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information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about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flights,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hotels,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transportation,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weather,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destination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availability.</a:t>
            </a:r>
            <a:endParaRPr sz="1800">
              <a:latin typeface="Times New Roman"/>
              <a:cs typeface="Times New Roman"/>
            </a:endParaRPr>
          </a:p>
          <a:p>
            <a:pPr marL="298450" marR="531495" indent="-285750">
              <a:lnSpc>
                <a:spcPct val="143300"/>
              </a:lnSpc>
              <a:spcBef>
                <a:spcPts val="3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mobile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application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easy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tourism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packages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booking services.</a:t>
            </a:r>
            <a:endParaRPr sz="1800">
              <a:latin typeface="Times New Roman"/>
              <a:cs typeface="Times New Roman"/>
            </a:endParaRPr>
          </a:p>
          <a:p>
            <a:pPr marL="298450" marR="385445" indent="-285750">
              <a:lnSpc>
                <a:spcPct val="143300"/>
              </a:lnSpc>
              <a:spcBef>
                <a:spcPts val="3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implement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chatbot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assistance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customer support.</a:t>
            </a:r>
            <a:endParaRPr sz="1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800" spc="-30">
                <a:latin typeface="Times New Roman"/>
                <a:cs typeface="Times New Roman"/>
              </a:rPr>
              <a:t>To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interactive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maps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location-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services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planning.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33379" y="3065512"/>
            <a:ext cx="312547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THANK</a:t>
            </a:r>
            <a:r>
              <a:rPr dirty="0" sz="4000" spc="-190"/>
              <a:t> </a:t>
            </a:r>
            <a:r>
              <a:rPr dirty="0" sz="4000" spc="-25"/>
              <a:t>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ppt review 2</dc:title>
  <dcterms:created xsi:type="dcterms:W3CDTF">2026-08-19T09:03:36Z</dcterms:created>
  <dcterms:modified xsi:type="dcterms:W3CDTF">2026-08-19T09:03:36Z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2026-08-19T00:00:00Z</vt:filetime>
  </property>
  <property fmtid="{D5CDD505-2E9C-101B-9397-08002B2CF9AE}" pid="4" name="Creator">
    <vt:lpwstr>Keynote</vt:lpwstr>
  </property>
  <property fmtid="{D5CDD505-2E9C-101B-9397-08002B2CF9AE}" pid="5" name="LastSaved">
    <vt:filetime>2026-08-19T00:00:00Z</vt:filetime>
  </property>
  <property fmtid="{D5CDD505-2E9C-101B-9397-08002B2CF9AE}" pid="6" name="Producer">
    <vt:lpwstr>macOS Version 26.5.2 (Build 25F84) Quartz PDFContext</vt:lpwstr>
  </property>
</Properties>
</file>